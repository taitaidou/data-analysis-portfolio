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65" r:id="rId2"/>
    <p:sldId id="277" r:id="rId3"/>
    <p:sldId id="276" r:id="rId4"/>
    <p:sldId id="278" r:id="rId5"/>
    <p:sldId id="281" r:id="rId6"/>
    <p:sldId id="283" r:id="rId7"/>
  </p:sldIdLst>
  <p:sldSz cx="12192000" cy="6858000"/>
  <p:notesSz cx="6858000" cy="9144000"/>
  <p:embeddedFontLst>
    <p:embeddedFont>
      <p:font typeface="Cambria Math" panose="02040503050406030204" pitchFamily="18" charset="0"/>
      <p:regular r:id="rId10"/>
    </p:embeddedFont>
    <p:embeddedFont>
      <p:font typeface="Playfair Display" panose="00000500000000000000" pitchFamily="2" charset="0"/>
      <p:regular r:id="rId11"/>
      <p:bold r:id="rId12"/>
      <p:italic r:id="rId13"/>
      <p:boldItalic r:id="rId14"/>
    </p:embeddedFont>
    <p:embeddedFont>
      <p:font typeface="仿宋" panose="02010609060101010101" pitchFamily="49" charset="-122"/>
      <p:regular r:id="rId15"/>
    </p:embeddedFont>
  </p:embeddedFontLst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98" d="100"/>
          <a:sy n="98" d="100"/>
        </p:scale>
        <p:origin x="51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font" Target="fonts/font5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Regular"/>
              <a:ea typeface="思源黑体 Regular"/>
              <a:cs typeface="思源黑体 Regular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cs typeface="思源黑体 Regular"/>
              </a:rPr>
              <a:t>2025/6/30</a:t>
            </a:fld>
            <a:endParaRPr lang="zh-CN" altLang="en-US">
              <a:cs typeface="思源黑体 Regular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Regular"/>
              <a:ea typeface="思源黑体 Regular"/>
              <a:cs typeface="思源黑体 Regular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cs typeface="思源黑体 Regular"/>
              </a:rPr>
              <a:t>‹#›</a:t>
            </a:fld>
            <a:endParaRPr lang="zh-CN" altLang="en-US">
              <a:cs typeface="思源黑体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Regular"/>
                <a:ea typeface="思源黑体 Regular"/>
                <a:cs typeface="思源黑体 Regular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Regular"/>
                <a:ea typeface="思源黑体 Regular"/>
                <a:cs typeface="思源黑体 Regular"/>
              </a:defRPr>
            </a:lvl1pPr>
          </a:lstStyle>
          <a:p>
            <a:fld id="{D2A48B96-639E-45A3-A0BA-2464DFDB1FAA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Regular"/>
                <a:ea typeface="思源黑体 Regular"/>
                <a:cs typeface="思源黑体 Regular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Regular"/>
                <a:ea typeface="思源黑体 Regular"/>
                <a:cs typeface="思源黑体 Regular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Regular"/>
        <a:ea typeface="思源黑体 Regular"/>
        <a:cs typeface="思源黑体 Regular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Regular"/>
        <a:ea typeface="思源黑体 Regular"/>
        <a:cs typeface="思源黑体 Regular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Regular"/>
        <a:ea typeface="思源黑体 Regular"/>
        <a:cs typeface="思源黑体 Regular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Regular"/>
        <a:ea typeface="思源黑体 Regular"/>
        <a:cs typeface="思源黑体 Regular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Regular"/>
        <a:ea typeface="思源黑体 Regular"/>
        <a:cs typeface="思源黑体 Regular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alphaModFix amt="5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黑体 Regular"/>
                <a:ea typeface="思源黑体 Regular"/>
                <a:cs typeface="思源黑体 Regular"/>
              </a:defRPr>
            </a:lvl1pPr>
          </a:lstStyle>
          <a:p>
            <a:fld id="{D997B5FA-0921-464F-AAE1-844C04324D75}" type="datetimeFigureOut">
              <a:rPr lang="zh-CN" altLang="en-US" smtClean="0"/>
              <a:t>2025/6/30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黑体 Regular"/>
                <a:ea typeface="思源黑体 Regular"/>
                <a:cs typeface="思源黑体 Regular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黑体 Regular"/>
                <a:ea typeface="思源黑体 Regular"/>
                <a:cs typeface="思源黑体 Regular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Regular"/>
          <a:ea typeface="思源黑体 Regular"/>
          <a:cs typeface="思源黑体 Regular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思源黑体 Regular"/>
          <a:ea typeface="思源黑体 Regular"/>
          <a:cs typeface="思源黑体 Regular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思源黑体 Regular"/>
          <a:ea typeface="思源黑体 Regular"/>
          <a:cs typeface="思源黑体 Regular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思源黑体 Regular"/>
          <a:ea typeface="思源黑体 Regular"/>
          <a:cs typeface="思源黑体 Regular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思源黑体 Regular"/>
          <a:ea typeface="思源黑体 Regular"/>
          <a:cs typeface="思源黑体 Regular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思源黑体 Regular"/>
          <a:ea typeface="思源黑体 Regular"/>
          <a:cs typeface="思源黑体 Regular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slide" Target="slide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slide" Target="slide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" Target="slide1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tags" Target="../tags/tag5.xml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tags" Target="../tags/tag4.xml"/><Relationship Id="rId16" Type="http://schemas.openxmlformats.org/officeDocument/2006/relationships/image" Target="../media/image30.svg"/><Relationship Id="rId1" Type="http://schemas.openxmlformats.org/officeDocument/2006/relationships/tags" Target="../tags/tag3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29.png"/><Relationship Id="rId10" Type="http://schemas.openxmlformats.org/officeDocument/2006/relationships/image" Target="../media/image24.svg"/><Relationship Id="rId4" Type="http://schemas.openxmlformats.org/officeDocument/2006/relationships/tags" Target="../tags/tag6.xml"/><Relationship Id="rId9" Type="http://schemas.openxmlformats.org/officeDocument/2006/relationships/image" Target="../media/image23.png"/><Relationship Id="rId14" Type="http://schemas.openxmlformats.org/officeDocument/2006/relationships/image" Target="../media/image28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191356" y="318466"/>
            <a:ext cx="7172482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48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panose="02010609060101010101" pitchFamily="49" charset="-122"/>
                <a:ea typeface="仿宋" panose="02010609060101010101" pitchFamily="49" charset="-122"/>
                <a:cs typeface="Playfair Display" panose="00000500000000000000" charset="0"/>
                <a:sym typeface="+mn-ea"/>
              </a:rPr>
              <a:t>Data Science Questions</a:t>
            </a:r>
            <a:endParaRPr lang="zh-CN" altLang="en-US" sz="48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panose="02010609060101010101" pitchFamily="49" charset="-122"/>
              <a:ea typeface="仿宋" panose="02010609060101010101" pitchFamily="49" charset="-122"/>
              <a:cs typeface="Playfair Display" panose="00000500000000000000" charset="0"/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91356" y="1870051"/>
            <a:ext cx="11929413" cy="1757532"/>
          </a:xfrm>
          <a:prstGeom prst="rect">
            <a:avLst/>
          </a:prstGeom>
          <a:noFill/>
        </p:spPr>
        <p:txBody>
          <a:bodyPr wrap="square" lIns="91440" tIns="90170" rIns="91440" bIns="90170" rtlCol="0" anchor="t">
            <a:spAutoFit/>
          </a:bodyPr>
          <a:lstStyle/>
          <a:p>
            <a:pPr marL="457200" lvl="0" indent="-4572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MY" altLang="zh-CN" sz="2400" dirty="0">
                <a:latin typeface="仿宋" panose="02010609060101010101" pitchFamily="49" charset="-122"/>
                <a:ea typeface="仿宋" panose="02010609060101010101" pitchFamily="49" charset="-122"/>
                <a:hlinkClick r:id="rId2" action="ppaction://hlinksldjump"/>
              </a:rPr>
              <a:t>What is the relationship between a healthy lifestyle and a chronic disease?</a:t>
            </a:r>
            <a:endParaRPr lang="en-MY" altLang="zh-CN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457200" lvl="0" indent="-4572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MY" altLang="zh-CN" sz="2400" dirty="0">
                <a:latin typeface="仿宋" panose="02010609060101010101" pitchFamily="49" charset="-122"/>
                <a:ea typeface="仿宋" panose="02010609060101010101" pitchFamily="49" charset="-122"/>
                <a:hlinkClick r:id="rId3" action="ppaction://hlinksldjump"/>
              </a:rPr>
              <a:t>What impact do lifestyle factors have the risk of diabetes?</a:t>
            </a:r>
            <a:r>
              <a:rPr lang="en-MY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</a:p>
          <a:p>
            <a:pPr marL="457200" lvl="0" indent="-4572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MY" altLang="zh-CN" sz="2400" dirty="0">
                <a:latin typeface="仿宋" panose="02010609060101010101" pitchFamily="49" charset="-122"/>
                <a:ea typeface="仿宋" panose="02010609060101010101" pitchFamily="49" charset="-122"/>
                <a:hlinkClick r:id="rId4" action="ppaction://hlinksldjump"/>
              </a:rPr>
              <a:t>What is the relationship between diabetes and other health problems?  </a:t>
            </a:r>
            <a:endParaRPr lang="en-US" altLang="zh-CN" sz="2400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5F3AC4E5-94D5-E03B-4EC8-126A4E3C43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24730" y="3937519"/>
            <a:ext cx="2584173" cy="2454466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32961" y="409478"/>
            <a:ext cx="11729747" cy="1067215"/>
          </a:xfrm>
          <a:prstGeom prst="rect">
            <a:avLst/>
          </a:prstGeom>
          <a:noFill/>
        </p:spPr>
        <p:txBody>
          <a:bodyPr wrap="square" lIns="91440" tIns="90170" rIns="91440" bIns="9017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MY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What is the relationship between a healthy lifestyle and a chronic disease?</a:t>
            </a:r>
          </a:p>
          <a:p>
            <a:pPr lvl="0"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思源黑体 Regular"/>
              <a:ea typeface="思源黑体 Regular"/>
              <a:cs typeface="思源黑体 Regular"/>
              <a:sym typeface="+mn-ea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F929E1D-B983-5530-CE5B-9E517E385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53734" y="2193867"/>
            <a:ext cx="3567775" cy="3762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30A65B3-49DB-676A-F63F-D3BBEE736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947" y="2587874"/>
            <a:ext cx="3917674" cy="300944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CDD22D8A-BC0D-9F7E-2CE3-1035A6D1271E}"/>
              </a:ext>
            </a:extLst>
          </p:cNvPr>
          <p:cNvSpPr txBox="1"/>
          <p:nvPr/>
        </p:nvSpPr>
        <p:spPr>
          <a:xfrm>
            <a:off x="1335121" y="1476693"/>
            <a:ext cx="250315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</a:rPr>
              <a:t>Method : K-means</a:t>
            </a:r>
          </a:p>
          <a:p>
            <a:endParaRPr lang="zh-CN" altLang="en-US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A73E17A8-FB36-ECF1-6D5F-2C6E1A942D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4148" y="1964848"/>
            <a:ext cx="3871840" cy="458037"/>
          </a:xfrm>
          <a:prstGeom prst="rect">
            <a:avLst/>
          </a:prstGeom>
        </p:spPr>
      </p:pic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162C1B83-4037-7814-C051-19AB4F2BA1C5}"/>
              </a:ext>
            </a:extLst>
          </p:cNvPr>
          <p:cNvSpPr/>
          <p:nvPr/>
        </p:nvSpPr>
        <p:spPr>
          <a:xfrm>
            <a:off x="667033" y="1162044"/>
            <a:ext cx="602784" cy="478369"/>
          </a:xfrm>
          <a:custGeom>
            <a:avLst/>
            <a:gdLst>
              <a:gd name="connsiteX0" fmla="*/ 602784 w 602784"/>
              <a:gd name="connsiteY0" fmla="*/ 0 h 478369"/>
              <a:gd name="connsiteX1" fmla="*/ 602784 w 602784"/>
              <a:gd name="connsiteY1" fmla="*/ 103439 h 478369"/>
              <a:gd name="connsiteX2" fmla="*/ 465229 w 602784"/>
              <a:gd name="connsiteY2" fmla="*/ 237256 h 478369"/>
              <a:gd name="connsiteX3" fmla="*/ 602784 w 602784"/>
              <a:gd name="connsiteY3" fmla="*/ 237256 h 478369"/>
              <a:gd name="connsiteX4" fmla="*/ 602784 w 602784"/>
              <a:gd name="connsiteY4" fmla="*/ 478369 h 478369"/>
              <a:gd name="connsiteX5" fmla="*/ 361670 w 602784"/>
              <a:gd name="connsiteY5" fmla="*/ 478369 h 478369"/>
              <a:gd name="connsiteX6" fmla="*/ 361670 w 602784"/>
              <a:gd name="connsiteY6" fmla="*/ 237256 h 478369"/>
              <a:gd name="connsiteX7" fmla="*/ 602784 w 602784"/>
              <a:gd name="connsiteY7" fmla="*/ 0 h 478369"/>
              <a:gd name="connsiteX8" fmla="*/ 241114 w 602784"/>
              <a:gd name="connsiteY8" fmla="*/ 0 h 478369"/>
              <a:gd name="connsiteX9" fmla="*/ 241114 w 602784"/>
              <a:gd name="connsiteY9" fmla="*/ 103439 h 478369"/>
              <a:gd name="connsiteX10" fmla="*/ 103559 w 602784"/>
              <a:gd name="connsiteY10" fmla="*/ 237256 h 478369"/>
              <a:gd name="connsiteX11" fmla="*/ 241114 w 602784"/>
              <a:gd name="connsiteY11" fmla="*/ 237256 h 478369"/>
              <a:gd name="connsiteX12" fmla="*/ 241114 w 602784"/>
              <a:gd name="connsiteY12" fmla="*/ 478369 h 478369"/>
              <a:gd name="connsiteX13" fmla="*/ 0 w 602784"/>
              <a:gd name="connsiteY13" fmla="*/ 478369 h 478369"/>
              <a:gd name="connsiteX14" fmla="*/ 0 w 602784"/>
              <a:gd name="connsiteY14" fmla="*/ 237256 h 478369"/>
              <a:gd name="connsiteX15" fmla="*/ 241114 w 602784"/>
              <a:gd name="connsiteY15" fmla="*/ 0 h 478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02784" h="478369">
                <a:moveTo>
                  <a:pt x="602784" y="0"/>
                </a:moveTo>
                <a:lnTo>
                  <a:pt x="602784" y="103439"/>
                </a:lnTo>
                <a:cubicBezTo>
                  <a:pt x="528277" y="103474"/>
                  <a:pt x="467316" y="162778"/>
                  <a:pt x="465229" y="237256"/>
                </a:cubicBezTo>
                <a:lnTo>
                  <a:pt x="602784" y="237256"/>
                </a:lnTo>
                <a:lnTo>
                  <a:pt x="602784" y="478369"/>
                </a:lnTo>
                <a:lnTo>
                  <a:pt x="361670" y="478369"/>
                </a:lnTo>
                <a:lnTo>
                  <a:pt x="361670" y="237256"/>
                </a:lnTo>
                <a:cubicBezTo>
                  <a:pt x="363778" y="105602"/>
                  <a:pt x="471113" y="-17"/>
                  <a:pt x="602784" y="0"/>
                </a:cubicBezTo>
                <a:close/>
                <a:moveTo>
                  <a:pt x="241114" y="0"/>
                </a:moveTo>
                <a:lnTo>
                  <a:pt x="241114" y="103439"/>
                </a:lnTo>
                <a:cubicBezTo>
                  <a:pt x="166606" y="103474"/>
                  <a:pt x="105646" y="162778"/>
                  <a:pt x="103559" y="237256"/>
                </a:cubicBezTo>
                <a:lnTo>
                  <a:pt x="241114" y="237256"/>
                </a:lnTo>
                <a:lnTo>
                  <a:pt x="241114" y="478369"/>
                </a:lnTo>
                <a:lnTo>
                  <a:pt x="0" y="478369"/>
                </a:lnTo>
                <a:lnTo>
                  <a:pt x="0" y="237256"/>
                </a:lnTo>
                <a:cubicBezTo>
                  <a:pt x="2107" y="105602"/>
                  <a:pt x="109443" y="-17"/>
                  <a:pt x="241114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 w="60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9" name="任意多边形: 形状 28">
            <a:hlinkClick r:id="rId5" action="ppaction://hlinksldjump"/>
            <a:extLst>
              <a:ext uri="{FF2B5EF4-FFF2-40B4-BE49-F238E27FC236}">
                <a16:creationId xmlns:a16="http://schemas.microsoft.com/office/drawing/2014/main" id="{162C1B83-4037-7814-C051-19AB4F2BA1C5}"/>
              </a:ext>
            </a:extLst>
          </p:cNvPr>
          <p:cNvSpPr/>
          <p:nvPr/>
        </p:nvSpPr>
        <p:spPr>
          <a:xfrm rot="10800000">
            <a:off x="4018725" y="1199587"/>
            <a:ext cx="602784" cy="478369"/>
          </a:xfrm>
          <a:custGeom>
            <a:avLst/>
            <a:gdLst>
              <a:gd name="connsiteX0" fmla="*/ 602784 w 602784"/>
              <a:gd name="connsiteY0" fmla="*/ 0 h 478369"/>
              <a:gd name="connsiteX1" fmla="*/ 602784 w 602784"/>
              <a:gd name="connsiteY1" fmla="*/ 103439 h 478369"/>
              <a:gd name="connsiteX2" fmla="*/ 465229 w 602784"/>
              <a:gd name="connsiteY2" fmla="*/ 237256 h 478369"/>
              <a:gd name="connsiteX3" fmla="*/ 602784 w 602784"/>
              <a:gd name="connsiteY3" fmla="*/ 237256 h 478369"/>
              <a:gd name="connsiteX4" fmla="*/ 602784 w 602784"/>
              <a:gd name="connsiteY4" fmla="*/ 478369 h 478369"/>
              <a:gd name="connsiteX5" fmla="*/ 361670 w 602784"/>
              <a:gd name="connsiteY5" fmla="*/ 478369 h 478369"/>
              <a:gd name="connsiteX6" fmla="*/ 361670 w 602784"/>
              <a:gd name="connsiteY6" fmla="*/ 237256 h 478369"/>
              <a:gd name="connsiteX7" fmla="*/ 602784 w 602784"/>
              <a:gd name="connsiteY7" fmla="*/ 0 h 478369"/>
              <a:gd name="connsiteX8" fmla="*/ 241114 w 602784"/>
              <a:gd name="connsiteY8" fmla="*/ 0 h 478369"/>
              <a:gd name="connsiteX9" fmla="*/ 241114 w 602784"/>
              <a:gd name="connsiteY9" fmla="*/ 103439 h 478369"/>
              <a:gd name="connsiteX10" fmla="*/ 103559 w 602784"/>
              <a:gd name="connsiteY10" fmla="*/ 237256 h 478369"/>
              <a:gd name="connsiteX11" fmla="*/ 241114 w 602784"/>
              <a:gd name="connsiteY11" fmla="*/ 237256 h 478369"/>
              <a:gd name="connsiteX12" fmla="*/ 241114 w 602784"/>
              <a:gd name="connsiteY12" fmla="*/ 478369 h 478369"/>
              <a:gd name="connsiteX13" fmla="*/ 0 w 602784"/>
              <a:gd name="connsiteY13" fmla="*/ 478369 h 478369"/>
              <a:gd name="connsiteX14" fmla="*/ 0 w 602784"/>
              <a:gd name="connsiteY14" fmla="*/ 237256 h 478369"/>
              <a:gd name="connsiteX15" fmla="*/ 241114 w 602784"/>
              <a:gd name="connsiteY15" fmla="*/ 0 h 478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02784" h="478369">
                <a:moveTo>
                  <a:pt x="602784" y="0"/>
                </a:moveTo>
                <a:lnTo>
                  <a:pt x="602784" y="103439"/>
                </a:lnTo>
                <a:cubicBezTo>
                  <a:pt x="528277" y="103474"/>
                  <a:pt x="467316" y="162778"/>
                  <a:pt x="465229" y="237256"/>
                </a:cubicBezTo>
                <a:lnTo>
                  <a:pt x="602784" y="237256"/>
                </a:lnTo>
                <a:lnTo>
                  <a:pt x="602784" y="478369"/>
                </a:lnTo>
                <a:lnTo>
                  <a:pt x="361670" y="478369"/>
                </a:lnTo>
                <a:lnTo>
                  <a:pt x="361670" y="237256"/>
                </a:lnTo>
                <a:cubicBezTo>
                  <a:pt x="363778" y="105602"/>
                  <a:pt x="471113" y="-17"/>
                  <a:pt x="602784" y="0"/>
                </a:cubicBezTo>
                <a:close/>
                <a:moveTo>
                  <a:pt x="241114" y="0"/>
                </a:moveTo>
                <a:lnTo>
                  <a:pt x="241114" y="103439"/>
                </a:lnTo>
                <a:cubicBezTo>
                  <a:pt x="166606" y="103474"/>
                  <a:pt x="105646" y="162778"/>
                  <a:pt x="103559" y="237256"/>
                </a:cubicBezTo>
                <a:lnTo>
                  <a:pt x="241114" y="237256"/>
                </a:lnTo>
                <a:lnTo>
                  <a:pt x="241114" y="478369"/>
                </a:lnTo>
                <a:lnTo>
                  <a:pt x="0" y="478369"/>
                </a:lnTo>
                <a:lnTo>
                  <a:pt x="0" y="237256"/>
                </a:lnTo>
                <a:cubicBezTo>
                  <a:pt x="2107" y="105602"/>
                  <a:pt x="109443" y="-17"/>
                  <a:pt x="241114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 w="60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907A04B-7752-F2F5-9827-3796BE3273D0}"/>
              </a:ext>
            </a:extLst>
          </p:cNvPr>
          <p:cNvSpPr txBox="1"/>
          <p:nvPr/>
        </p:nvSpPr>
        <p:spPr>
          <a:xfrm>
            <a:off x="6616523" y="1460546"/>
            <a:ext cx="2503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Cluster centers:</a:t>
            </a:r>
            <a:endParaRPr lang="zh-CN" alt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>
            <a:cxnSpLocks/>
          </p:cNvCxnSpPr>
          <p:nvPr/>
        </p:nvCxnSpPr>
        <p:spPr>
          <a:xfrm>
            <a:off x="717955" y="1979984"/>
            <a:ext cx="0" cy="4274901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147906" y="829878"/>
            <a:ext cx="10903597" cy="637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MY" altLang="zh-CN" sz="2800" b="1" dirty="0">
                <a:latin typeface="仿宋" panose="02010609060101010101" pitchFamily="49" charset="-122"/>
                <a:ea typeface="仿宋" panose="02010609060101010101" pitchFamily="49" charset="-122"/>
              </a:rPr>
              <a:t>What impact do lifestyle factors have the risk of diabetes</a:t>
            </a:r>
            <a:r>
              <a:rPr lang="en-MY" altLang="zh-CN" sz="2800" dirty="0">
                <a:latin typeface="仿宋" panose="02010609060101010101" pitchFamily="49" charset="-122"/>
                <a:ea typeface="仿宋" panose="02010609060101010101" pitchFamily="49" charset="-122"/>
              </a:rPr>
              <a:t>? 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69010" y="1671320"/>
            <a:ext cx="831215" cy="748025"/>
          </a:xfrm>
          <a:prstGeom prst="rect">
            <a:avLst/>
          </a:prstGeom>
          <a:noFill/>
        </p:spPr>
        <p:txBody>
          <a:bodyPr wrap="square" lIns="91440" tIns="90170" rIns="91440" bIns="90170" rtlCol="0">
            <a:spAutoFit/>
          </a:bodyPr>
          <a:lstStyle/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Playfair Display" panose="00000500000000000000" charset="0"/>
                <a:ea typeface="思源黑体 Regular"/>
                <a:cs typeface="Playfair Display" panose="00000500000000000000" charset="0"/>
                <a:sym typeface="+mn-ea"/>
              </a:rPr>
              <a:t>01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017648" y="3626659"/>
            <a:ext cx="831215" cy="748025"/>
          </a:xfrm>
          <a:prstGeom prst="rect">
            <a:avLst/>
          </a:prstGeom>
          <a:noFill/>
        </p:spPr>
        <p:txBody>
          <a:bodyPr wrap="square" lIns="91440" tIns="90170" rIns="91440" bIns="90170" rtlCol="0">
            <a:spAutoFit/>
          </a:bodyPr>
          <a:lstStyle/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en-US" altLang="zh-CN" sz="28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Playfair Display" panose="00000500000000000000" charset="0"/>
                <a:ea typeface="思源黑体 Regular"/>
                <a:cs typeface="Playfair Display" panose="00000500000000000000" charset="0"/>
                <a:sym typeface="+mn-ea"/>
              </a:rPr>
              <a:t>02</a:t>
            </a:r>
          </a:p>
        </p:txBody>
      </p:sp>
      <p:pic>
        <p:nvPicPr>
          <p:cNvPr id="26" name="图形 25">
            <a:hlinkClick r:id="rId3" action="ppaction://hlinksldjump"/>
            <a:extLst>
              <a:ext uri="{FF2B5EF4-FFF2-40B4-BE49-F238E27FC236}">
                <a16:creationId xmlns:a16="http://schemas.microsoft.com/office/drawing/2014/main" id="{38DEF601-6CF0-C87A-CB22-06CD60D4003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501245" y="-306705"/>
            <a:ext cx="2438400" cy="2438400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6389E99B-1D32-37F8-C802-897866058D44}"/>
              </a:ext>
            </a:extLst>
          </p:cNvPr>
          <p:cNvSpPr txBox="1"/>
          <p:nvPr/>
        </p:nvSpPr>
        <p:spPr>
          <a:xfrm>
            <a:off x="1716931" y="1897429"/>
            <a:ext cx="69212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Method : Logistic regression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D29205CC-DC70-1F63-A84F-1A9C78E900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9626" y="2300130"/>
            <a:ext cx="5048646" cy="1326529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C87A7BDE-7A6F-63F3-3A84-5A3A9FE9FA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6931" y="3803498"/>
            <a:ext cx="2859933" cy="2320627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FACE3024-99AE-4BE3-512E-D1DB1278630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9882" y="3803498"/>
            <a:ext cx="2772141" cy="2320628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5B89F643-9929-2FBE-538E-8EEFC2E1AD9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46766" y="3803498"/>
            <a:ext cx="2716058" cy="2320627"/>
          </a:xfrm>
          <a:prstGeom prst="rect">
            <a:avLst/>
          </a:prstGeom>
        </p:spPr>
      </p:pic>
      <p:sp>
        <p:nvSpPr>
          <p:cNvPr id="44" name="文本框 43">
            <a:extLst>
              <a:ext uri="{FF2B5EF4-FFF2-40B4-BE49-F238E27FC236}">
                <a16:creationId xmlns:a16="http://schemas.microsoft.com/office/drawing/2014/main" id="{E728767A-38D7-BFFB-C5B8-D2007388A43F}"/>
              </a:ext>
            </a:extLst>
          </p:cNvPr>
          <p:cNvSpPr txBox="1"/>
          <p:nvPr/>
        </p:nvSpPr>
        <p:spPr>
          <a:xfrm>
            <a:off x="1607342" y="6361889"/>
            <a:ext cx="33025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Smoking frequency ↑ → diabetes risk ↑</a:t>
            </a:r>
            <a:endParaRPr lang="zh-CN" altLang="en-US" sz="140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3EE6F860-6DCB-6A19-2F9A-5FE9FCEC882C}"/>
              </a:ext>
            </a:extLst>
          </p:cNvPr>
          <p:cNvSpPr txBox="1"/>
          <p:nvPr/>
        </p:nvSpPr>
        <p:spPr>
          <a:xfrm>
            <a:off x="4856258" y="6361889"/>
            <a:ext cx="28793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Physical activity ↑ → diabetes risk ↓</a:t>
            </a:r>
            <a:endParaRPr lang="zh-CN" altLang="en-US" sz="14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8E4F197-C723-B713-6522-E9637AFA90BF}"/>
              </a:ext>
            </a:extLst>
          </p:cNvPr>
          <p:cNvSpPr txBox="1"/>
          <p:nvPr/>
        </p:nvSpPr>
        <p:spPr>
          <a:xfrm>
            <a:off x="7879404" y="6361889"/>
            <a:ext cx="30099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Vegetable intake ↑ → diabetes risk ↓</a:t>
            </a:r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355060" y="-143962"/>
            <a:ext cx="11241501" cy="637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MY" altLang="zh-CN" sz="2800" b="1" dirty="0">
                <a:latin typeface="仿宋" panose="02010609060101010101" pitchFamily="49" charset="-122"/>
                <a:ea typeface="仿宋" panose="02010609060101010101" pitchFamily="49" charset="-122"/>
              </a:rPr>
              <a:t>Relationship between diabetes and other health problems?</a:t>
            </a:r>
          </a:p>
        </p:txBody>
      </p:sp>
      <p:pic>
        <p:nvPicPr>
          <p:cNvPr id="2" name="图片 1" descr="pexels-dayvison-de-oliveira-silva-5695285"/>
          <p:cNvPicPr>
            <a:picLocks noChangeAspect="1"/>
          </p:cNvPicPr>
          <p:nvPr/>
        </p:nvPicPr>
        <p:blipFill>
          <a:blip r:embed="rId2"/>
          <a:srcRect b="67967"/>
          <a:stretch>
            <a:fillRect/>
          </a:stretch>
        </p:blipFill>
        <p:spPr>
          <a:xfrm>
            <a:off x="431805" y="433647"/>
            <a:ext cx="9967064" cy="29215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8E85318-0E22-99F0-63D4-8C5F6A129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4" y="3154940"/>
            <a:ext cx="3316992" cy="261674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0585780-EF05-1C4B-A624-CD39F14C05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5111" y="3154940"/>
            <a:ext cx="3595344" cy="261674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D2B767C-5812-6B8F-3EFF-0687A3537B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0865" y="3192165"/>
            <a:ext cx="3316992" cy="257951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F8D71D72-DB6A-6A36-4724-6162689DD525}"/>
              </a:ext>
            </a:extLst>
          </p:cNvPr>
          <p:cNvSpPr txBox="1"/>
          <p:nvPr/>
        </p:nvSpPr>
        <p:spPr>
          <a:xfrm>
            <a:off x="431803" y="5924145"/>
            <a:ext cx="10756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Bar chart showing the relationship between hypertension, high cholesterol, heart disease and the diabetes level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9827F5F-B2CB-F728-DC75-A2E44CB4276E}"/>
              </a:ext>
            </a:extLst>
          </p:cNvPr>
          <p:cNvSpPr txBox="1"/>
          <p:nvPr/>
        </p:nvSpPr>
        <p:spPr>
          <a:xfrm>
            <a:off x="491246" y="899809"/>
            <a:ext cx="71546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Method :Chi-squared test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仿宋" panose="02010609060101010101" pitchFamily="49" charset="-122"/>
                <a:ea typeface="仿宋" panose="02010609060101010101" pitchFamily="49" charset="-122"/>
              </a:rPr>
              <a:t>Use Contingency table and look p values</a:t>
            </a:r>
            <a:endParaRPr lang="zh-CN" altLang="en-US" sz="24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15CC8294-C244-3578-450F-58091DB42E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245" y="1919054"/>
            <a:ext cx="3257551" cy="1159653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3A2538FC-F40C-A633-1B6A-B742F88344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95110" y="1884605"/>
            <a:ext cx="3595343" cy="122855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ECA445CB-3A8D-35B5-1986-6AB7BC16AD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28043" y="1919054"/>
            <a:ext cx="3259813" cy="122869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>
            <a:cxnSpLocks/>
          </p:cNvCxnSpPr>
          <p:nvPr/>
        </p:nvCxnSpPr>
        <p:spPr>
          <a:xfrm>
            <a:off x="204281" y="3793788"/>
            <a:ext cx="7237379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1283794" y="315095"/>
            <a:ext cx="5078352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3600" b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仿宋" panose="02010609060101010101" pitchFamily="49" charset="-122"/>
                <a:ea typeface="仿宋" panose="02010609060101010101" pitchFamily="49" charset="-122"/>
                <a:cs typeface="Playfair Display" panose="00000500000000000000" charset="0"/>
                <a:sym typeface="+mn-ea"/>
              </a:rPr>
              <a:t>Model E</a:t>
            </a:r>
            <a:r>
              <a:rPr lang="en-US" altLang="zh-CN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  <a:cs typeface="Playfair Display" panose="00000500000000000000" charset="0"/>
                <a:sym typeface="+mn-ea"/>
              </a:rPr>
              <a:t>valuation</a:t>
            </a:r>
            <a:endParaRPr lang="zh-CN" altLang="en-US" sz="3600" b="1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panose="02010609060101010101" pitchFamily="49" charset="-122"/>
              <a:ea typeface="仿宋" panose="02010609060101010101" pitchFamily="49" charset="-122"/>
              <a:cs typeface="Playfair Display" panose="00000500000000000000" charset="0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441660" y="3999365"/>
            <a:ext cx="3798570" cy="2087687"/>
          </a:xfrm>
          <a:prstGeom prst="rect">
            <a:avLst/>
          </a:prstGeom>
          <a:noFill/>
        </p:spPr>
        <p:txBody>
          <a:bodyPr wrap="square" lIns="91440" tIns="90170" rIns="91440" bIns="90170" rtlCol="0" anchor="t">
            <a:spAutoFit/>
          </a:bodyPr>
          <a:lstStyle/>
          <a:p>
            <a:pPr lv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/>
              <a:t>The red curve (Logistic Regression) is at the top, indicating that it has the best performance and the highest AUC value</a:t>
            </a:r>
          </a:p>
          <a:p>
            <a:pPr lv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/>
              <a:t>The green curve (Decision Tree) comes next</a:t>
            </a:r>
          </a:p>
          <a:p>
            <a:pPr lv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/>
              <a:t>The blue curve (K-Nearest Neighbors) is at the bottom, with relatively the poorest performance.</a:t>
            </a:r>
            <a:endParaRPr lang="en-US" altLang="zh-CN" sz="1400" spc="1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思源黑体 Regular"/>
              <a:ea typeface="思源黑体 Regular"/>
              <a:cs typeface="思源黑体 Regular"/>
              <a:sym typeface="+mn-ea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7441660" y="974071"/>
            <a:ext cx="3798570" cy="2892425"/>
            <a:chOff x="4237" y="3471"/>
            <a:chExt cx="5982" cy="4555"/>
          </a:xfrm>
        </p:grpSpPr>
        <p:sp>
          <p:nvSpPr>
            <p:cNvPr id="4" name="文本框 3"/>
            <p:cNvSpPr txBox="1"/>
            <p:nvPr/>
          </p:nvSpPr>
          <p:spPr>
            <a:xfrm>
              <a:off x="4237" y="3471"/>
              <a:ext cx="4786" cy="1051"/>
            </a:xfrm>
            <a:prstGeom prst="rect">
              <a:avLst/>
            </a:prstGeom>
            <a:noFill/>
          </p:spPr>
          <p:txBody>
            <a:bodyPr wrap="square" lIns="91440" tIns="90170" rIns="91440" bIns="90170" rtlCol="0">
              <a:spAutoFit/>
            </a:bodyPr>
            <a:lstStyle/>
            <a:p>
              <a:pPr lvl="0" algn="l">
                <a:lnSpc>
                  <a:spcPct val="150000"/>
                </a:lnSpc>
                <a:buClrTx/>
                <a:buSzTx/>
                <a:buFontTx/>
              </a:pPr>
              <a:r>
                <a:rPr lang="en-US" altLang="zh-CN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layfair Display" panose="00000500000000000000" charset="0"/>
                  <a:ea typeface="思源黑体 Regular"/>
                  <a:cs typeface="Playfair Display" panose="00000500000000000000" charset="0"/>
                  <a:sym typeface="+mn-ea"/>
                </a:rPr>
                <a:t>Evaluation metrics</a:t>
              </a:r>
              <a:endParaRPr lang="en-US" altLang="zh-CN" sz="240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Playfair Display" panose="00000500000000000000" charset="0"/>
                <a:ea typeface="思源黑体 Regular"/>
                <a:cs typeface="Playfair Display" panose="00000500000000000000" charset="0"/>
                <a:sym typeface="+mn-ea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/>
                <p:cNvSpPr txBox="1"/>
                <p:nvPr/>
              </p:nvSpPr>
              <p:spPr>
                <a:xfrm>
                  <a:off x="4237" y="4007"/>
                  <a:ext cx="5982" cy="4019"/>
                </a:xfrm>
                <a:prstGeom prst="rect">
                  <a:avLst/>
                </a:prstGeom>
                <a:noFill/>
              </p:spPr>
              <p:txBody>
                <a:bodyPr wrap="square" lIns="91440" tIns="90170" rIns="91440" bIns="90170" rtlCol="0" anchor="t">
                  <a:spAutoFit/>
                </a:bodyPr>
                <a:lstStyle/>
                <a:p>
                  <a:pPr marL="285750" lvl="0" indent="-28575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𝐴𝑐𝑐𝑢𝑟𝑎𝑐𝑦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𝑇𝑁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a14:m>
                  <a:r>
                    <a:rPr lang="en-US" altLang="zh-CN" sz="1600" dirty="0"/>
                    <a:t>​</a:t>
                  </a:r>
                </a:p>
                <a:p>
                  <a:pPr marL="285750" lvl="0" indent="-28575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𝑅𝑒𝑐𝑎𝑙𝑙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a14:m>
                  <a:endParaRPr lang="en-US" altLang="zh-CN" dirty="0"/>
                </a:p>
                <a:p>
                  <a:pPr marL="285750" lvl="0" indent="-28575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𝑅𝑒𝑐𝑎𝑙𝑙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a14:m>
                  <a:endParaRPr lang="en-US" altLang="zh-CN" dirty="0"/>
                </a:p>
                <a:p>
                  <a:pPr marL="285750" indent="-285750">
                    <a:lnSpc>
                      <a:spcPct val="15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</m:den>
                      </m:f>
                    </m:oMath>
                  </a14:m>
                  <a:endParaRPr lang="zh-CN" altLang="zh-CN" dirty="0"/>
                </a:p>
              </p:txBody>
            </p:sp>
          </mc:Choice>
          <mc:Fallback xmlns="">
            <p:sp>
              <p:nvSpPr>
                <p:cNvPr id="5" name="文本框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7" y="4007"/>
                  <a:ext cx="5982" cy="4019"/>
                </a:xfrm>
                <a:prstGeom prst="rect">
                  <a:avLst/>
                </a:prstGeom>
                <a:blipFill>
                  <a:blip r:embed="rId6"/>
                  <a:stretch>
                    <a:fillRect l="-112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146CEF6B-F8D1-C26B-A412-2449050D6C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418" y="1285107"/>
            <a:ext cx="6212428" cy="2270354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3733BE4-D857-58B4-3471-45BED0BDA3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121" y="3999365"/>
            <a:ext cx="6247725" cy="2543540"/>
          </a:xfrm>
          <a:prstGeom prst="rect">
            <a:avLst/>
          </a:prstGeom>
        </p:spPr>
      </p:pic>
      <p:pic>
        <p:nvPicPr>
          <p:cNvPr id="24" name="图形 23">
            <a:extLst>
              <a:ext uri="{FF2B5EF4-FFF2-40B4-BE49-F238E27FC236}">
                <a16:creationId xmlns:a16="http://schemas.microsoft.com/office/drawing/2014/main" id="{14CA1D39-25AC-E773-52C0-E768E8B8067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16732" y="262564"/>
            <a:ext cx="1865022" cy="1294349"/>
          </a:xfrm>
          <a:prstGeom prst="rect">
            <a:avLst/>
          </a:prstGeom>
        </p:spPr>
      </p:pic>
      <p:sp>
        <p:nvSpPr>
          <p:cNvPr id="25" name="椭圆 24">
            <a:extLst>
              <a:ext uri="{FF2B5EF4-FFF2-40B4-BE49-F238E27FC236}">
                <a16:creationId xmlns:a16="http://schemas.microsoft.com/office/drawing/2014/main" id="{9BDB6542-9FE8-ECBD-A4DE-5D486E049A7F}"/>
              </a:ext>
            </a:extLst>
          </p:cNvPr>
          <p:cNvSpPr/>
          <p:nvPr/>
        </p:nvSpPr>
        <p:spPr>
          <a:xfrm>
            <a:off x="7114283" y="1282390"/>
            <a:ext cx="206375" cy="206375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cs typeface="思源黑体 Regular"/>
            </a:endParaRPr>
          </a:p>
        </p:txBody>
      </p:sp>
      <p:pic>
        <p:nvPicPr>
          <p:cNvPr id="30" name="图形 29">
            <a:extLst>
              <a:ext uri="{FF2B5EF4-FFF2-40B4-BE49-F238E27FC236}">
                <a16:creationId xmlns:a16="http://schemas.microsoft.com/office/drawing/2014/main" id="{5C8D473E-0BFC-6C8D-A071-0FC4D561B83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20658" y="4120813"/>
            <a:ext cx="133350" cy="276225"/>
          </a:xfrm>
          <a:prstGeom prst="rect">
            <a:avLst/>
          </a:prstGeom>
        </p:spPr>
      </p:pic>
      <p:pic>
        <p:nvPicPr>
          <p:cNvPr id="36" name="图形 35">
            <a:extLst>
              <a:ext uri="{FF2B5EF4-FFF2-40B4-BE49-F238E27FC236}">
                <a16:creationId xmlns:a16="http://schemas.microsoft.com/office/drawing/2014/main" id="{36B951BD-F4D5-BE72-5CF3-BEE2628BF3C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132008" y="5016689"/>
            <a:ext cx="377300" cy="377300"/>
          </a:xfrm>
          <a:prstGeom prst="rect">
            <a:avLst/>
          </a:prstGeom>
        </p:spPr>
      </p:pic>
      <p:pic>
        <p:nvPicPr>
          <p:cNvPr id="38" name="图形 37">
            <a:extLst>
              <a:ext uri="{FF2B5EF4-FFF2-40B4-BE49-F238E27FC236}">
                <a16:creationId xmlns:a16="http://schemas.microsoft.com/office/drawing/2014/main" id="{57E92721-CFD9-3360-C45C-A4C26868737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244458" y="5391169"/>
            <a:ext cx="209550" cy="3048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 flipH="1">
            <a:off x="544195" y="561975"/>
            <a:ext cx="0" cy="5733415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57408" y="59737"/>
            <a:ext cx="4838404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Playfair Display" panose="00000500000000000000" charset="0"/>
                <a:ea typeface="思源黑体 Regular"/>
                <a:cs typeface="Playfair Display" panose="00000500000000000000" charset="0"/>
                <a:sym typeface="+mn-ea"/>
              </a:rPr>
              <a:t>Next actions</a:t>
            </a:r>
            <a:endParaRPr lang="zh-CN" altLang="en-US" sz="48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Playfair Display" panose="00000500000000000000" charset="0"/>
              <a:ea typeface="思源黑体 Regular"/>
              <a:cs typeface="Playfair Display" panose="00000500000000000000" charset="0"/>
              <a:sym typeface="+mn-ea"/>
            </a:endParaRPr>
          </a:p>
        </p:txBody>
      </p:sp>
      <p:sp>
        <p:nvSpPr>
          <p:cNvPr id="5" name="任意多边形 4"/>
          <p:cNvSpPr/>
          <p:nvPr/>
        </p:nvSpPr>
        <p:spPr>
          <a:xfrm>
            <a:off x="4348267" y="1366737"/>
            <a:ext cx="4888146" cy="1459148"/>
          </a:xfrm>
          <a:custGeom>
            <a:avLst/>
            <a:gdLst>
              <a:gd name="connisteX0" fmla="*/ 0 w 3346450"/>
              <a:gd name="connsiteY0" fmla="*/ 68862 h 710847"/>
              <a:gd name="connisteX1" fmla="*/ 1960245 w 3346450"/>
              <a:gd name="connsiteY1" fmla="*/ 57432 h 710847"/>
              <a:gd name="connisteX2" fmla="*/ 3346450 w 3346450"/>
              <a:gd name="connsiteY2" fmla="*/ 710847 h 71084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3346450" h="710847">
                <a:moveTo>
                  <a:pt x="0" y="68862"/>
                </a:moveTo>
                <a:cubicBezTo>
                  <a:pt x="364490" y="53622"/>
                  <a:pt x="1290955" y="-70838"/>
                  <a:pt x="1960245" y="57432"/>
                </a:cubicBezTo>
                <a:cubicBezTo>
                  <a:pt x="2629535" y="185702"/>
                  <a:pt x="3108325" y="580037"/>
                  <a:pt x="3346450" y="710847"/>
                </a:cubicBezTo>
              </a:path>
            </a:pathLst>
          </a:custGeom>
          <a:ln w="19050">
            <a:solidFill>
              <a:schemeClr val="tx1">
                <a:lumMod val="85000"/>
                <a:lumOff val="1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Regular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43753" y="1860061"/>
            <a:ext cx="4233545" cy="1232389"/>
          </a:xfrm>
          <a:prstGeom prst="rect">
            <a:avLst/>
          </a:prstGeom>
          <a:noFill/>
        </p:spPr>
        <p:txBody>
          <a:bodyPr wrap="square" lIns="91440" tIns="90170" rIns="91440" bIns="90170" rtlCol="0" anchor="t">
            <a:spAutoFit/>
          </a:bodyPr>
          <a:lstStyle/>
          <a:p>
            <a:pPr marL="285750" lvl="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思源黑体 Regular"/>
              <a:buChar char="•"/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Low Risk</a:t>
            </a:r>
          </a:p>
          <a:p>
            <a:pPr marL="285750" lvl="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思源黑体 Regular"/>
              <a:buChar char="•"/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Moderate Risk</a:t>
            </a:r>
          </a:p>
          <a:p>
            <a:pPr marL="285750" lvl="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思源黑体 Regular"/>
              <a:buChar char="•"/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High Risk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panose="02010609060101010101" pitchFamily="49" charset="-122"/>
              <a:ea typeface="仿宋" panose="02010609060101010101" pitchFamily="49" charset="-122"/>
              <a:cs typeface="思源黑体 Regular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0098" y="1201351"/>
            <a:ext cx="4123416" cy="493725"/>
          </a:xfrm>
          <a:prstGeom prst="rect">
            <a:avLst/>
          </a:prstGeom>
          <a:noFill/>
        </p:spPr>
        <p:txBody>
          <a:bodyPr wrap="square" lIns="91440" tIns="90170" rIns="91440" bIns="90170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Diabetes Risk Level Notification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panose="02010609060101010101" pitchFamily="49" charset="-122"/>
              <a:ea typeface="仿宋" panose="02010609060101010101" pitchFamily="49" charset="-122"/>
              <a:cs typeface="Playfair Display" panose="00000500000000000000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797570" y="3478333"/>
            <a:ext cx="4233545" cy="1232389"/>
          </a:xfrm>
          <a:prstGeom prst="rect">
            <a:avLst/>
          </a:prstGeom>
          <a:noFill/>
        </p:spPr>
        <p:txBody>
          <a:bodyPr wrap="square" lIns="91440" tIns="90170" rIns="91440" bIns="90170" rtlCol="0" anchor="t">
            <a:spAutoFit/>
          </a:bodyPr>
          <a:lstStyle/>
          <a:p>
            <a:pPr marL="285750" lvl="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思源黑体 Regular"/>
              <a:buChar char="•"/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Increase physical activity</a:t>
            </a:r>
          </a:p>
          <a:p>
            <a:pPr marL="285750" lvl="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思源黑体 Regular"/>
              <a:buChar char="•"/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control diet</a:t>
            </a:r>
          </a:p>
          <a:p>
            <a:pPr marL="285750" lvl="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思源黑体 Regular"/>
              <a:buChar char="•"/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have regular medical check-ups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  <a:cs typeface="思源黑体 Regular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001850" y="2885942"/>
            <a:ext cx="3715115" cy="493725"/>
          </a:xfrm>
          <a:prstGeom prst="rect">
            <a:avLst/>
          </a:prstGeom>
          <a:noFill/>
        </p:spPr>
        <p:txBody>
          <a:bodyPr wrap="square" lIns="91440" tIns="90170" rIns="91440" bIns="90170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Health Recommendations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仿宋" panose="02010609060101010101" pitchFamily="49" charset="-122"/>
              <a:ea typeface="仿宋" panose="02010609060101010101" pitchFamily="49" charset="-122"/>
              <a:cs typeface="Playfair Display" panose="00000500000000000000" charset="0"/>
              <a:sym typeface="+mn-ea"/>
            </a:endParaRPr>
          </a:p>
        </p:txBody>
      </p:sp>
      <p:sp>
        <p:nvSpPr>
          <p:cNvPr id="12" name="任意多边形 11"/>
          <p:cNvSpPr/>
          <p:nvPr/>
        </p:nvSpPr>
        <p:spPr>
          <a:xfrm rot="20690460" flipH="1" flipV="1">
            <a:off x="4262505" y="3858121"/>
            <a:ext cx="4794666" cy="1506654"/>
          </a:xfrm>
          <a:custGeom>
            <a:avLst/>
            <a:gdLst>
              <a:gd name="connisteX0" fmla="*/ 0 w 3346450"/>
              <a:gd name="connsiteY0" fmla="*/ 68862 h 710847"/>
              <a:gd name="connisteX1" fmla="*/ 1960245 w 3346450"/>
              <a:gd name="connsiteY1" fmla="*/ 57432 h 710847"/>
              <a:gd name="connisteX2" fmla="*/ 3346450 w 3346450"/>
              <a:gd name="connsiteY2" fmla="*/ 710847 h 71084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3346450" h="710847">
                <a:moveTo>
                  <a:pt x="0" y="68862"/>
                </a:moveTo>
                <a:cubicBezTo>
                  <a:pt x="364490" y="53622"/>
                  <a:pt x="1290955" y="-70838"/>
                  <a:pt x="1960245" y="57432"/>
                </a:cubicBezTo>
                <a:cubicBezTo>
                  <a:pt x="2629535" y="185702"/>
                  <a:pt x="3108325" y="580037"/>
                  <a:pt x="3346450" y="710847"/>
                </a:cubicBezTo>
              </a:path>
            </a:pathLst>
          </a:custGeom>
          <a:ln w="19050">
            <a:solidFill>
              <a:schemeClr val="tx1">
                <a:lumMod val="85000"/>
                <a:lumOff val="1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Regular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43753" y="5146448"/>
            <a:ext cx="6610350" cy="1251881"/>
          </a:xfrm>
          <a:prstGeom prst="rect">
            <a:avLst/>
          </a:prstGeom>
          <a:noFill/>
        </p:spPr>
        <p:txBody>
          <a:bodyPr wrap="square" lIns="91440" tIns="90170" rIns="91440" bIns="90170" rtlCol="0" anchor="t">
            <a:spAutoFit/>
          </a:bodyPr>
          <a:lstStyle/>
          <a:p>
            <a:pPr marL="285750" lvl="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思源黑体 Regular"/>
              <a:buChar char="•"/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Provide tailored intervention recommendations based on specific characteristics, such as high blood pressure, high cholesterol, and heart disease.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panose="02010609060101010101" pitchFamily="49" charset="-122"/>
              <a:ea typeface="仿宋" panose="02010609060101010101" pitchFamily="49" charset="-122"/>
              <a:cs typeface="思源黑体 Regular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06186" y="4268049"/>
            <a:ext cx="3328170" cy="493725"/>
          </a:xfrm>
          <a:prstGeom prst="rect">
            <a:avLst/>
          </a:prstGeom>
          <a:noFill/>
        </p:spPr>
        <p:txBody>
          <a:bodyPr wrap="square" lIns="91440" tIns="90170" rIns="91440" bIns="90170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Personalized Intervention Plan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仿宋" panose="02010609060101010101" pitchFamily="49" charset="-122"/>
              <a:ea typeface="仿宋" panose="02010609060101010101" pitchFamily="49" charset="-122"/>
              <a:cs typeface="Playfair Display" panose="00000500000000000000" charset="0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69012" y="1136133"/>
            <a:ext cx="3340341" cy="641985"/>
          </a:xfrm>
          <a:prstGeom prst="rect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Regular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924517" y="2862910"/>
            <a:ext cx="2606350" cy="641985"/>
          </a:xfrm>
          <a:prstGeom prst="rect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Regular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969012" y="4236342"/>
            <a:ext cx="3114484" cy="641985"/>
          </a:xfrm>
          <a:prstGeom prst="rect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Regular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8.0.12"/>
  <p:tag name="AS_OS" val="Microsoft Windows NT 10.0.20348.0"/>
  <p:tag name="AS_RELEASE_DATE" val="2025.01.14"/>
  <p:tag name="AS_TITLE" val="Aspose.Slides for .NET6"/>
  <p:tag name="AS_VERSION" val="25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vecto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icon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Regular"/>
        <a:ea typeface="思源黑体 Regular"/>
        <a:cs typeface="Arial"/>
        <a:font script="Jpan" typeface="ＭＳ Ｐゴシック"/>
        <a:font script="Hang" typeface="맑은 고딕"/>
        <a:font script="Hans" typeface="OPPOSans R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Regular"/>
        <a:ea typeface="思源黑体 Regular"/>
        <a:cs typeface="Arial"/>
        <a:font script="Jpan" typeface="ＭＳ Ｐゴシック"/>
        <a:font script="Hang" typeface="맑은 고딕"/>
        <a:font script="Hans" typeface="OPPOSans R"/>
        <a:font script="Hant" typeface="新細明體"/>
        <a:font script="Arab" typeface="OPPOSans R"/>
        <a:font script="Hebr" typeface="OPPOSans 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OPPOSans 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OPPOSans R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Regular"/>
        <a:ea typeface="思源黑体 Regular"/>
        <a:cs typeface="Arial"/>
        <a:font script="Jpan" typeface="ＭＳ Ｐゴシック"/>
        <a:font script="Hang" typeface="맑은 고딕"/>
        <a:font script="Hans" typeface="OPPOSans R"/>
        <a:font script="Hant" typeface="新細明體"/>
        <a:font script="Arab" typeface="OPPOSans R"/>
        <a:font script="Hebr" typeface="OPPOSans 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OPPOSans 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OPPOSans R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Regular"/>
        <a:ea typeface="思源黑体 Regular"/>
        <a:cs typeface="Arial"/>
        <a:font script="Jpan" typeface="ＭＳ Ｐゴシック"/>
        <a:font script="Hang" typeface="맑은 고딕"/>
        <a:font script="Hans" typeface="OPPOSans R"/>
        <a:font script="Hant" typeface="新細明體"/>
        <a:font script="Arab" typeface="OPPOSans R"/>
        <a:font script="Hebr" typeface="OPPOSans 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OPPOSans 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1632</TotalTime>
  <Words>249</Words>
  <Application>Microsoft Office PowerPoint</Application>
  <PresentationFormat>宽屏</PresentationFormat>
  <Paragraphs>38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Playfair Display</vt:lpstr>
      <vt:lpstr>思源黑体 Regular</vt:lpstr>
      <vt:lpstr>Cambria Math</vt:lpstr>
      <vt:lpstr>仿宋</vt:lpstr>
      <vt:lpstr>Arial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珂鑫 董</cp:lastModifiedBy>
  <cp:revision>59</cp:revision>
  <dcterms:created xsi:type="dcterms:W3CDTF">2022-05-05T02:52:00Z</dcterms:created>
  <dcterms:modified xsi:type="dcterms:W3CDTF">2025-06-30T11:43:58Z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5E2EFA0C442243BF9751BCA016F9CE35</vt:lpwstr>
  </property>
  <property fmtid="{D5CDD505-2E9C-101B-9397-08002B2CF9AE}" pid="3" name="KSOProductBuildVer">
    <vt:lpwstr>2052-11.1.0.11691</vt:lpwstr>
  </property>
</Properties>
</file>